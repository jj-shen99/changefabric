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Dashboard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914400" y="3840480"/>
            <a:ext cx="27432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Architecture, Scoring Methodology &amp; Live Demo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2026  |  GCS Engineering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&amp; Goals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7373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Overview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21031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4688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— ServiceNow to Dashboard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83464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2834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4-Layer Scoring Framework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20040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63040" y="32004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 &amp; Dimension Scoring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56616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35661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Content Analysis Engine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93192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3931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 &amp; ML Feature Impact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429768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42976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Outage &amp; Performance Detection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466344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63040" y="4663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Advanced Pages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502920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463040" y="5029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Role-Based Access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" y="539496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63040" y="5394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1520" y="5760720"/>
            <a:ext cx="54864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63040" y="57607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Next Steps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6304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Change Review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45920" y="18288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requests in ServiceNow lack automated risk scoring — teams rely on subjective assessment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645920" y="24688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Plan Quality Metrics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45920" y="2788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Implementation, backout, and test plans are not quantitatively measured for completeness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38328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645920" y="34290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Spot on Code Risk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45920" y="3749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Git-level code changes aren't correlated with change request risk classification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434340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434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⏱️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645920" y="43891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Release Decisions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4592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Go/no-go decisions for releases lack data-driven confidence scoring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5303520"/>
            <a:ext cx="10515600" cy="822960"/>
          </a:xfrm>
          <a:prstGeom prst="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5394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645920" y="53492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Unified Dashboard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45920" y="5669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Risk, impact, velocity, and health data scattered across multiple tools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GCS Change &amp; Release Management Dashboard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96012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3383280" cy="54864"/>
          </a:xfrm>
          <a:prstGeom prst="rect">
            <a:avLst>
              <a:gd name="adj" fmla="val 83333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45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Dashboard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KPIs, risk gauges, deployment frequency — auto-refreshes every 30s via SWR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0" y="1371600"/>
            <a:ext cx="3383280" cy="54864"/>
          </a:xfrm>
          <a:prstGeom prst="rect">
            <a:avLst>
              <a:gd name="adj" fmla="val 83333"/>
            </a:avLst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645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(4 Tabs)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63440" y="21945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· Plan Analysis · ML Analysis · Code Change Analysis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0" y="1371600"/>
            <a:ext cx="3383280" cy="54864"/>
          </a:xfrm>
          <a:prstGeom prst="rect">
            <a:avLst>
              <a:gd name="adj" fmla="val 83333"/>
            </a:avLst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1645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Integration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21945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all 90+ change_request fields, paginated sync, upsert to local DB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93192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931920"/>
            <a:ext cx="3383280" cy="54864"/>
          </a:xfrm>
          <a:prstGeom prst="rect">
            <a:avLst>
              <a:gd name="adj" fmla="val 83333"/>
            </a:avLst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Scoring Engines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75488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scoring, plan readiness, NLP content analysis, code risk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0" y="393192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9120" y="3931920"/>
            <a:ext cx="3383280" cy="54864"/>
          </a:xfrm>
          <a:prstGeom prst="rect">
            <a:avLst>
              <a:gd name="adj" fmla="val 83333"/>
            </a:avLst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Suite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63440" y="475488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Analysis · Velocity · DORA Metrics · Change Health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3931920"/>
            <a:ext cx="3383280" cy="2194560"/>
          </a:xfrm>
          <a:prstGeom prst="rect">
            <a:avLst>
              <a:gd name="adj" fmla="val 41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0" y="3931920"/>
            <a:ext cx="3383280" cy="54864"/>
          </a:xfrm>
          <a:prstGeom prst="rect">
            <a:avLst>
              <a:gd name="adj" fmla="val 83333"/>
            </a:avLst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8321040" y="42062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+ Auth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21040" y="475488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/ Manager / Viewer roles, JWT sessions, role-gated UI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320040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High-level architecture of the full-stack application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High-Level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5029200" cy="2286000"/>
          </a:xfrm>
          <a:prstGeom prst="rect">
            <a:avLst>
              <a:gd name="adj" fmla="val 6000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— Client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916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Pages (App Router)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205740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5740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 Cache (30s refresh)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42316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4231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Recharts Visualizations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278892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78892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NextAuth.js Client Session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0" y="1188720"/>
            <a:ext cx="5029200" cy="2286000"/>
          </a:xfrm>
          <a:prstGeom prst="rect">
            <a:avLst>
              <a:gd name="adj" fmla="val 6000"/>
            </a:avLst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234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Server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169164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Routes (/api/*)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205740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205740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Middleware (JWT)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242316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242316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 ORM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66560" y="2788920"/>
            <a:ext cx="4389120" cy="292608"/>
          </a:xfrm>
          <a:prstGeom prst="rect">
            <a:avLst>
              <a:gd name="adj" fmla="val 15625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2788920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Analysis Engines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77840" y="2103120"/>
            <a:ext cx="73152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5" name="Text 23"/>
          <p:cNvSpPr/>
          <p:nvPr/>
        </p:nvSpPr>
        <p:spPr>
          <a:xfrm>
            <a:off x="5303520" y="18288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/ JWT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828800" y="3931920"/>
            <a:ext cx="8229600" cy="2011680"/>
          </a:xfrm>
          <a:prstGeom prst="rect">
            <a:avLst>
              <a:gd name="adj" fmla="val 6818"/>
            </a:avLst>
          </a:prstGeom>
          <a:solidFill>
            <a:srgbClr val="FEFCE8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11680" y="3977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286000" y="4480560"/>
            <a:ext cx="228600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0" y="44805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/ PostgreSQL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(Prisma ORM)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Models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03520" y="4480560"/>
            <a:ext cx="228600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0" y="44805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change_request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 fields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321040" y="4480560"/>
            <a:ext cx="2286000" cy="1097280"/>
          </a:xfrm>
          <a:prstGeom prst="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44805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/ GitLab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History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Diffs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91840" y="3520440"/>
            <a:ext cx="36576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5" name="Shape 33"/>
          <p:cNvSpPr/>
          <p:nvPr/>
        </p:nvSpPr>
        <p:spPr>
          <a:xfrm>
            <a:off x="8778240" y="3520440"/>
            <a:ext cx="36576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3566160" cy="530352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3566160" cy="502920"/>
          </a:xfrm>
          <a:prstGeom prst="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08760"/>
            <a:ext cx="3566160" cy="91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0756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Router, SSR + CSR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2560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8529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components + hooks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33375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 3.4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6301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Utility-first styling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Recharts 3.x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charts &amp; radars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48920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Lucide React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518464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Icon library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56692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 2.x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59618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fetching + caching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97680" y="1097280"/>
            <a:ext cx="3566160" cy="530352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97680" y="1097280"/>
            <a:ext cx="3566160" cy="502920"/>
          </a:xfrm>
          <a:prstGeom prst="rect">
            <a:avLst>
              <a:gd name="adj" fmla="val 18182"/>
            </a:avLst>
          </a:prstGeom>
          <a:solidFill>
            <a:srgbClr val="16A3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297680" y="1508760"/>
            <a:ext cx="3566160" cy="91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0" y="10972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API Routes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0756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RESTful endpoints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NextAuth.js 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0" y="28529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+ Credentials provider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0" y="33375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 ORM 6.x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36301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Type-safe DB access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0" y="41148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bcryptjs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0" y="44074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hashing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0" y="48920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Analysis Engine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518464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pattern matching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138160" y="1097280"/>
            <a:ext cx="3566160" cy="530352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8160" y="1097280"/>
            <a:ext cx="3566160" cy="502920"/>
          </a:xfrm>
          <a:prstGeom prst="rect">
            <a:avLst>
              <a:gd name="adj" fmla="val 18182"/>
            </a:avLst>
          </a:prstGeom>
          <a:solidFill>
            <a:srgbClr val="7C3AED"/>
          </a:solidFill>
          <a:ln/>
        </p:spPr>
      </p:sp>
      <p:sp>
        <p:nvSpPr>
          <p:cNvPr id="36" name="Shape 34"/>
          <p:cNvSpPr/>
          <p:nvPr/>
        </p:nvSpPr>
        <p:spPr>
          <a:xfrm>
            <a:off x="8138160" y="1508760"/>
            <a:ext cx="3566160" cy="91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8138160" y="10972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&amp; Infra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412480" y="1783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412480" y="20756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(swappable to PG/MySQL)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12480" y="25603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REST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412480" y="28529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change_request sync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12480" y="33375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Enterprise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412480" y="363016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analysis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12480" y="41148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Jest + RTL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412480" y="440740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unit tests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412480" y="48920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ESLint + Prettier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412480" y="518464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quality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— ServiceNow to Dashboard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D97706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change_request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 fields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743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2743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API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/api/sync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Paginated fetch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Auth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00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 ORM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66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loop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WHERE: number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or CREATE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315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15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DB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452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ChangeRequest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372600" y="3383280"/>
            <a:ext cx="640080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1" name="Text 29"/>
          <p:cNvSpPr/>
          <p:nvPr/>
        </p:nvSpPr>
        <p:spPr>
          <a:xfrm>
            <a:off x="9418320" y="306324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601200" y="2011680"/>
            <a:ext cx="2011680" cy="3200400"/>
          </a:xfrm>
          <a:prstGeom prst="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601200" y="2011680"/>
            <a:ext cx="2011680" cy="457200"/>
          </a:xfrm>
          <a:prstGeom prst="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34" name="Shape 32"/>
          <p:cNvSpPr/>
          <p:nvPr/>
        </p:nvSpPr>
        <p:spPr>
          <a:xfrm>
            <a:off x="9601200" y="2377440"/>
            <a:ext cx="201168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9601200" y="20116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738360" y="265176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SWR cache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 refresh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UI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Framework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320040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4-layer scoring methodology for comprehensive change risk assessment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4-Layer Scoring Framework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Scoring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(SN_field × weight)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Risk, Impact, Urgency, Priority,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Type, Scope — weighted 0–100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Dimension Score (0–100)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4612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16A34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4612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24612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8328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(plan_quality × weight)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Implementation, Backout, Test,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Analysis, Change, Justification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2044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352044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Readiness Score (0–100)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2648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7C3AED"/>
          </a:solidFill>
          <a:ln/>
        </p:spPr>
      </p:sp>
      <p:sp>
        <p:nvSpPr>
          <p:cNvPr id="24" name="Shape 22"/>
          <p:cNvSpPr/>
          <p:nvPr/>
        </p:nvSpPr>
        <p:spPr>
          <a:xfrm>
            <a:off x="612648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Content Analysis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Struct×25% + Comp×30%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Clarity×25% + Risk×20%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0936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structure, completeness,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clarity, risk awareness scoring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ML Quality Score (0–100)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06840" y="1188720"/>
            <a:ext cx="2743200" cy="41148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d0d0d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006840" y="1188720"/>
            <a:ext cx="2743200" cy="548640"/>
          </a:xfrm>
          <a:prstGeom prst="rect">
            <a:avLst>
              <a:gd name="adj" fmla="val 16667"/>
            </a:avLst>
          </a:prstGeom>
          <a:solidFill>
            <a:srgbClr val="EA580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06840" y="16459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9006840" y="1188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144000" y="1920240"/>
            <a:ext cx="2468880" cy="731520"/>
          </a:xfrm>
          <a:prstGeom prst="rect">
            <a:avLst>
              <a:gd name="adj" fmla="val 625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89720" y="1965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risk + Churn + Patterns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189720" y="2834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 analysis, file type risk,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heatmap, feature impact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281160" y="4389120"/>
            <a:ext cx="2194560" cy="502920"/>
          </a:xfrm>
          <a:prstGeom prst="rect">
            <a:avLst>
              <a:gd name="adj" fmla="val 14545"/>
            </a:avLst>
          </a:prstGeom>
          <a:solidFill>
            <a:srgbClr val="EA580C"/>
          </a:solidFill>
          <a:ln/>
        </p:spPr>
      </p:sp>
      <p:sp>
        <p:nvSpPr>
          <p:cNvPr id="39" name="Text 37"/>
          <p:cNvSpPr/>
          <p:nvPr/>
        </p:nvSpPr>
        <p:spPr>
          <a:xfrm>
            <a:off x="9281160" y="4389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Code Risk Score (0–100)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828800" y="5669280"/>
            <a:ext cx="8229600" cy="457200"/>
          </a:xfrm>
          <a:prstGeom prst="rect">
            <a:avLst>
              <a:gd name="adj" fmla="val 16000"/>
            </a:avLst>
          </a:prstGeom>
          <a:solidFill>
            <a:srgbClr val="1E293B"/>
          </a:solidFill>
          <a:ln/>
        </p:spPr>
      </p:sp>
      <p:sp>
        <p:nvSpPr>
          <p:cNvPr id="41" name="Text 39"/>
          <p:cNvSpPr/>
          <p:nvPr/>
        </p:nvSpPr>
        <p:spPr>
          <a:xfrm>
            <a:off x="1828800" y="5669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Composite Risk Assessment  →  Go / No-Go Decision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 &amp; Dimension Scoring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Readiness Score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Readiness = Σ (plan_quality × weight)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417320" y="21488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Plan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17320" y="240487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deploy, configure, verify, pre/post-check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417320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Backout Plan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17320" y="30449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revert, rollback, restore, snapshot, recovery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31520" y="342900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417320" y="34290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Plan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17320" y="368503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smoke, regression, integration, coverage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" y="406908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17320" y="40690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Risk/Impact Analysis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432511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risk, mitigation, contingency, severity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31520" y="470916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417320" y="47091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Plan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17320" y="496519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strategy, approval, schedule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" y="5349240"/>
            <a:ext cx="548640" cy="256032"/>
          </a:xfrm>
          <a:prstGeom prst="rect">
            <a:avLst>
              <a:gd name="adj" fmla="val 14286"/>
            </a:avLst>
          </a:prstGeom>
          <a:solidFill>
            <a:srgbClr val="16A3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417320" y="5349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417320" y="560527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value, compliance, improvement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21792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Score (Impact)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0" y="1645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 = Σ (SN_field_score × weight)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92240" y="214884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78040" y="2148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78040" y="240487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High→95, High→75, Moderate→50, Low→25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278892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78040" y="2788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78040" y="304495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1-High→85, 2-Medium→55, 3-Low→25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92240" y="342900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178040" y="34290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Urgency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78040" y="368503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1-High→85, 2-Medium→55, 3-Low→25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92240" y="406908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78040" y="40690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178040" y="432511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1-Critical→95, 2-High→75, 3-Moderate→50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492240" y="470916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178040" y="47091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78040" y="496519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Emergency→90, Normal→50, Standard→25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492240" y="5349240"/>
            <a:ext cx="548640" cy="256032"/>
          </a:xfrm>
          <a:prstGeom prst="rect">
            <a:avLst>
              <a:gd name="adj" fmla="val 1428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78040" y="53492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178040" y="560527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Large→80, Medium→50, Small→25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Content Analysis Engine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 Quality = Structure × 25%  +  Completeness × 30%  +  Clarity × 25%  +  Risk Awareness × 20%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(25%)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steps (+25)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 points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5+ lines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lines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Pre/post checks (+15)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4612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12" name="Shape 10"/>
          <p:cNvSpPr/>
          <p:nvPr/>
        </p:nvSpPr>
        <p:spPr>
          <a:xfrm>
            <a:off x="324612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Completeness (30%)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element checklist (+8 ea)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Pre-impl checks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Post-impl validation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Timeline/schedule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contacts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steps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EA580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648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 (25%)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words/line &lt; 25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words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steps (+20)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handling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total words (+10)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006840" y="1737360"/>
            <a:ext cx="2743200" cy="3657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06840" y="1737360"/>
            <a:ext cx="2743200" cy="457200"/>
          </a:xfrm>
          <a:prstGeom prst="rect">
            <a:avLst>
              <a:gd name="adj" fmla="val 20000"/>
            </a:avLst>
          </a:prstGeom>
          <a:solidFill>
            <a:srgbClr val="DC2626"/>
          </a:solidFill>
          <a:ln/>
        </p:spPr>
      </p:sp>
      <p:sp>
        <p:nvSpPr>
          <p:cNvPr id="22" name="Shape 20"/>
          <p:cNvSpPr/>
          <p:nvPr/>
        </p:nvSpPr>
        <p:spPr>
          <a:xfrm>
            <a:off x="9006840" y="210312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900684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Awareness (20%)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89720" y="233172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Rollback/revert refs (+20)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keywords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acknowledgment (+10)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steps (+15)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mentions (+15)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≥65: Approve 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4612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D97706"/>
          </a:solidFill>
          <a:ln/>
        </p:spPr>
      </p:sp>
      <p:sp>
        <p:nvSpPr>
          <p:cNvPr id="28" name="Text 26"/>
          <p:cNvSpPr/>
          <p:nvPr/>
        </p:nvSpPr>
        <p:spPr>
          <a:xfrm>
            <a:off x="324612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45–64: Conditions ⚠️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2648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EA580C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25–44: Rework 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006840" y="5669280"/>
            <a:ext cx="2743200" cy="411480"/>
          </a:xfrm>
          <a:prstGeom prst="rect">
            <a:avLst>
              <a:gd name="adj" fmla="val 13333"/>
            </a:avLst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900684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&lt;25: Reject 🛑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 &amp; ML Feature Impact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 Analysis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Commit risk scoring (file count, churn, patterns)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17627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File type risk breakdown (bar chart)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61518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Commit message pattern classification (12 categories)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3054096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Cumulative risk trend (area chart)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9300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Directory risk heatmap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Author activity heatmap (day-of-week grid)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437083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Repository risk profile radar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File hotspot map (visual treemap)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5248656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AI Code Change Insights (automated synthesis)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Feature Impact  (NEW)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83680" y="1737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14 application feature categories auto-detected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0" y="21488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Feature impact bar chart + radar chart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0" y="2560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Per-feature detail cards (files, churn, commits)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Impact scoring: risk × 30% + churn × 30%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commits × 20% + file spread × 20%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0" y="3383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Severity classification: Critical / High / Medium / 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83680" y="4206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Feature categories include: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0" y="4617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Auth · API · Database · UI · Pages · Config/Infra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0" y="5029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Testing · Middleware · Styling · Utils · Security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0" y="5440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Monitoring · Caching · Notifications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Outage &amp; Performance Detection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Outage Concerns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🔴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51560" y="173736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schema migration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480560" y="1755648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Secrets/env config change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480560" y="2093976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0080" y="241401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51560" y="241401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Breaking change / deprecation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480560" y="2432304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275234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🗄️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51560" y="275234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Destructive DB operation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480560" y="2770632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09067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🌐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51560" y="309067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Network/routing/LB change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80560" y="3108960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42900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🔐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" y="342900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DNS/TLS/certificate change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80560" y="3447288"/>
            <a:ext cx="822960" cy="228600"/>
          </a:xfrm>
          <a:prstGeom prst="rect">
            <a:avLst>
              <a:gd name="adj" fmla="val 16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376732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🐳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51560" y="376732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Infrastructure/deployment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0560" y="3785616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40080" y="4105656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↩️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51560" y="410565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Rollback/revert detected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480560" y="4123944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0080" y="4443984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⚙️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51560" y="444398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job/worker mod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480560" y="4462272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0080" y="4782312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🔄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51560" y="47823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Concurrency control change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480560" y="4800600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0080" y="5120640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51560" y="512064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Massive code volume (&gt;2k lines)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480560" y="5138928"/>
            <a:ext cx="822960" cy="228600"/>
          </a:xfrm>
          <a:prstGeom prst="rect">
            <a:avLst>
              <a:gd name="adj" fmla="val 16000"/>
            </a:avLst>
          </a:prstGeom>
          <a:solidFill>
            <a:srgbClr val="EA58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40080" y="5458968"/>
            <a:ext cx="365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51560" y="545896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Single-author concentration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480560" y="5477256"/>
            <a:ext cx="822960" cy="228600"/>
          </a:xfrm>
          <a:prstGeom prst="rect">
            <a:avLst>
              <a:gd name="adj" fmla="val 16000"/>
            </a:avLst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217920" y="1097280"/>
            <a:ext cx="5486400" cy="5029200"/>
          </a:xfrm>
          <a:prstGeom prst="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00800" y="1188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Impact Analysis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583680" y="173736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Query Optimization (N+1, loading strategy)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20756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Caching Strategy (TTL, invalidation)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83680" y="2414016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Database Indexing (compound, unique)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583680" y="2752344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Data Pagination (batch, cursor, offset)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583680" y="3090672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Async Processing (Promise chains, concurrency)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58368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Media/Asset Handling (upload, stream, blob)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583680" y="376732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Real-time Communication (WebSocket, SSE)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583680" y="4105656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Memory Management (heap, buffer, GC)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583680" y="4443984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Algorithmic Complexity (loops, recursion)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583680" y="4782312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Bundle Size (code splitting, lazy imports)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583680" y="51206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Rate Limiting (throttle, debounce)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583680" y="545896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Connection Pooling (pool size, max conn)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400800" y="5760720"/>
            <a:ext cx="5029200" cy="320040"/>
          </a:xfrm>
          <a:prstGeom prst="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0" y="5760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AI Performance Intelligence — automated risk synthesis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Advanced Pages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DC262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DORA change failure rate 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Failure by team bar chart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Service risk ranking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Rollback intelligence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Root cause analysis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Failure Intelligence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4612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11" name="Shape 9"/>
          <p:cNvSpPr/>
          <p:nvPr/>
        </p:nvSpPr>
        <p:spPr>
          <a:xfrm>
            <a:off x="324612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24612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velocity table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Category breakdown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efficiency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efficiency radar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Weekly throughput trend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Change window analysis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Velocity Intelligence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648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Trends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DORA metrics 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score trend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Validation pass rate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Lead time breakdown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MTTR trend chart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SLA compliance dashboard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DORA Performance tiers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006840" y="1188720"/>
            <a:ext cx="2743200" cy="475488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188720"/>
            <a:ext cx="2743200" cy="457200"/>
          </a:xfrm>
          <a:prstGeom prst="rect">
            <a:avLst>
              <a:gd name="adj" fmla="val 20000"/>
            </a:avLst>
          </a:prstGeom>
          <a:solidFill>
            <a:srgbClr val="7C3AED"/>
          </a:solidFill>
          <a:ln/>
        </p:spPr>
      </p:sp>
      <p:sp>
        <p:nvSpPr>
          <p:cNvPr id="21" name="Shape 19"/>
          <p:cNvSpPr/>
          <p:nvPr/>
        </p:nvSpPr>
        <p:spPr>
          <a:xfrm>
            <a:off x="9006840" y="1554480"/>
            <a:ext cx="2743200" cy="137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006840" y="1188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Health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89720" y="182880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Health score formula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performance radar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Team risk ranking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Weekly health trend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Risk-velocity quadrant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Improvement actions (P1-P3)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Health Intelligence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Role-Based Access Control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Page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+ Password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validation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4688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16A34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NextAuth.js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8803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 Provider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bcrypt.compare()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548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Token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663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24h TTL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id, email, name, role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7724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DC2626"/>
          </a:solidFill>
          <a:ln/>
        </p:spPr>
      </p:sp>
      <p:sp>
        <p:nvSpPr>
          <p:cNvPr id="24" name="Shape 22"/>
          <p:cNvSpPr/>
          <p:nvPr/>
        </p:nvSpPr>
        <p:spPr>
          <a:xfrm>
            <a:off x="77724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095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routes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Redirect to /login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784080" y="16916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0058400" y="1188720"/>
            <a:ext cx="2011680" cy="1645920"/>
          </a:xfrm>
          <a:prstGeom prst="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058400" y="1188720"/>
            <a:ext cx="2011680" cy="411480"/>
          </a:xfrm>
          <a:prstGeom prst="rect">
            <a:avLst>
              <a:gd name="adj" fmla="val 22222"/>
            </a:avLst>
          </a:prstGeom>
          <a:solidFill>
            <a:srgbClr val="7C3AED"/>
          </a:solidFill>
          <a:ln/>
        </p:spPr>
      </p:sp>
      <p:sp>
        <p:nvSpPr>
          <p:cNvPr id="30" name="Shape 28"/>
          <p:cNvSpPr/>
          <p:nvPr/>
        </p:nvSpPr>
        <p:spPr>
          <a:xfrm>
            <a:off x="10058400" y="1508760"/>
            <a:ext cx="201168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0058400" y="1188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195560" y="16916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useSession() hook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role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3291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Permissions Matrix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31520" y="3794760"/>
            <a:ext cx="41148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3794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46320" y="3794760"/>
            <a:ext cx="13716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7" name="Text 35"/>
          <p:cNvSpPr/>
          <p:nvPr/>
        </p:nvSpPr>
        <p:spPr>
          <a:xfrm>
            <a:off x="4846320" y="37947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0" y="3794760"/>
            <a:ext cx="13716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9" name="Text 37"/>
          <p:cNvSpPr/>
          <p:nvPr/>
        </p:nvSpPr>
        <p:spPr>
          <a:xfrm>
            <a:off x="6217920" y="37947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89520" y="3794760"/>
            <a:ext cx="13716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Text 39"/>
          <p:cNvSpPr/>
          <p:nvPr/>
        </p:nvSpPr>
        <p:spPr>
          <a:xfrm>
            <a:off x="7589520" y="37947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31520" y="4160520"/>
            <a:ext cx="4114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41605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dashboard &amp; analytics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46320" y="416052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46320" y="4160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217920" y="416052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0" y="4160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89520" y="416052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89520" y="41605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31520" y="4480560"/>
            <a:ext cx="4114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44805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change requests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46320" y="4480560"/>
            <a:ext cx="13716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46320" y="4480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217920" y="4480560"/>
            <a:ext cx="13716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0" y="4480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589520" y="4480560"/>
            <a:ext cx="13716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589520" y="4480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31520" y="4800600"/>
            <a:ext cx="4114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48006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Create/edit change requests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846320" y="480060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46320" y="48006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217920" y="480060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0" y="48006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589520" y="480060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589520" y="48006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1520" y="5120640"/>
            <a:ext cx="4114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1520" y="5120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change requests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846320" y="5120640"/>
            <a:ext cx="13716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846320" y="51206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217920" y="5120640"/>
            <a:ext cx="13716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0" y="51206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589520" y="5120640"/>
            <a:ext cx="13716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589520" y="51206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31520" y="5440680"/>
            <a:ext cx="4114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31520" y="5440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ServiceNow sync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4846320" y="544068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46320" y="54406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217920" y="544068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17920" y="54406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589520" y="544068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589520" y="54406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731520" y="5760720"/>
            <a:ext cx="41148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31520" y="5760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dashboard settings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4846320" y="5760720"/>
            <a:ext cx="13716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46320" y="57607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6217920" y="5760720"/>
            <a:ext cx="13716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0" y="57607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7589520" y="5760720"/>
            <a:ext cx="1371600" cy="32004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589520" y="57607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731520" y="6080760"/>
            <a:ext cx="41148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31520" y="60807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users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846320" y="608076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46320" y="6080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6217920" y="608076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17920" y="6080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7589520" y="6080760"/>
            <a:ext cx="1371600" cy="32004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7589520" y="6080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20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320040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 of key dashboard features and analysis capabilities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Walkthrough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Dashboard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1481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cards, risk gauges, deployment frequency chart,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change requests, status/risk/category distributions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0" y="1188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938528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9385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Requests + ServiceNow Sync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23113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Data from ServiceNow, search/filter CRs,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90+ fields per CR, CRUD operations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058400" y="19385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688336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68833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Plan Analysis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2980944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 CR → Plan readiness scoring, dimension weights,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chart, plan content viewer with risk highlighting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0" y="268833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38144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43814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— ML Analysis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373075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ML analysis on a CR → Structure/Completeness/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Clarity/Risk Awareness scores, recommendations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0" y="343814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4187952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41879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Change Analysis + ML Feature Impact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repo URL → Git risk analysis, feature impact radar,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outage concerns, performance insights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0" y="418795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4937760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937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— Failure + Velocity + Health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523036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root cause, team velocity radar, DORA metrics,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health quadrant, AI intelligence summaries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058400" y="49377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5687568"/>
            <a:ext cx="457200" cy="457200"/>
          </a:xfrm>
          <a:prstGeom prst="rect">
            <a:avLst>
              <a:gd name="adj" fmla="val 16000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371600" y="56875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+ User Management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371600" y="598017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as Admin vs Viewer, role-gated sidebar,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management page, dark mode toggle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58400" y="568756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1520" y="5852160"/>
            <a:ext cx="10515600" cy="3657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" y="5989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demo time: ~15 minutes  |  URL: http://localhost:3600  |  Admin: admin@company.com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1371600" cy="45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3566160" cy="493776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3566160" cy="502920"/>
          </a:xfrm>
          <a:prstGeom prst="rect">
            <a:avLst>
              <a:gd name="adj" fmla="val 18182"/>
            </a:avLst>
          </a:prstGeom>
          <a:solidFill>
            <a:srgbClr val="16A34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600200"/>
            <a:ext cx="356616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88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Current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ServiceNow integration (90+ fields)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423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4-layer impact scoring framework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ML content analysis engine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Code change analysis + feature impact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Production outage &amp; performance detection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4434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Analytics suite (4 tabs)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937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RBAC with 3 roles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1188720"/>
            <a:ext cx="3566160" cy="493776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60520" y="1188720"/>
            <a:ext cx="3566160" cy="502920"/>
          </a:xfrm>
          <a:prstGeom prst="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17" name="Shape 15"/>
          <p:cNvSpPr/>
          <p:nvPr/>
        </p:nvSpPr>
        <p:spPr>
          <a:xfrm>
            <a:off x="4160520" y="1600200"/>
            <a:ext cx="356616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160520" y="1188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Q2 2026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PostgreSQL production database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89120" y="2423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Automated SN sync (webhook/cron)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Email notifications for high-risk CRs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8912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Custom scoring weight presets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8912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Exportable reports (PDF/Excel)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0" y="4434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E2E tests with Playwright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955280" y="1188720"/>
            <a:ext cx="3566160" cy="4937760"/>
          </a:xfrm>
          <a:prstGeom prst="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d0d0d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955280" y="1188720"/>
            <a:ext cx="3566160" cy="502920"/>
          </a:xfrm>
          <a:prstGeom prst="rect">
            <a:avLst>
              <a:gd name="adj" fmla="val 18182"/>
            </a:avLst>
          </a:prstGeom>
          <a:solidFill>
            <a:srgbClr val="7C3AED"/>
          </a:solidFill>
          <a:ln/>
        </p:spPr>
      </p:sp>
      <p:sp>
        <p:nvSpPr>
          <p:cNvPr id="27" name="Shape 25"/>
          <p:cNvSpPr/>
          <p:nvPr/>
        </p:nvSpPr>
        <p:spPr>
          <a:xfrm>
            <a:off x="7955280" y="1600200"/>
            <a:ext cx="356616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955280" y="11887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Q3 2026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83880" y="1920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LLM-powered plan quality analysis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183880" y="2423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Predictive risk modeling (ML)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1838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Multi-instance SN support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183880" y="3429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Release approval workflow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18388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Slack/Teams integration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183880" y="44348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🔲 Audit trail &amp; compliance reports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914400" y="3291840"/>
            <a:ext cx="22860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5661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47548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http://localhost:3600  |  admin@company.com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Change &amp; Release Management Dashboard  | 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GCS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GCS Change &amp; Release Management Dashboard</dc:title>
  <dc:subject>Framework Architecture &amp; Demo</dc:subject>
  <dc:creator>GCS Engineering</dc:creator>
  <cp:lastModifiedBy>GCS Engineering</cp:lastModifiedBy>
  <cp:revision>1</cp:revision>
  <dcterms:created xsi:type="dcterms:W3CDTF">2026-03-13T00:51:58Z</dcterms:created>
  <dcterms:modified xsi:type="dcterms:W3CDTF">2026-03-13T00:51:58Z</dcterms:modified>
</cp:coreProperties>
</file>